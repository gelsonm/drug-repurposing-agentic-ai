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randviewresearch.com/industry-analysis/ai-drug-repurposing-market-report" TargetMode="External"/><Relationship Id="rId2" Type="http://schemas.openxmlformats.org/officeDocument/2006/relationships/hyperlink" Target="https://www.precedenceresearch.com/drug-repurposing-market" TargetMode="External"/><Relationship Id="rId3" Type="http://schemas.openxmlformats.org/officeDocument/2006/relationships/hyperlink" Target="https://www.towardshealthcare.com/insights/ai-in-drug-repurposing-market-sizing" TargetMode="External"/><Relationship Id="rId4" Type="http://schemas.openxmlformats.org/officeDocument/2006/relationships/hyperlink" Target="https://doi.org/10.3390/medicines12040028" TargetMode="External"/><Relationship Id="rId5" Type="http://schemas.openxmlformats.org/officeDocument/2006/relationships/hyperlink" Target="https://doi.org/10.1002/advs.202411325" TargetMode="External"/><Relationship Id="rId6" Type="http://schemas.openxmlformats.org/officeDocument/2006/relationships/hyperlink" Target="https://doi.org/10.1038/s41746-022-00617-6" TargetMode="External"/><Relationship Id="rId7" Type="http://schemas.openxmlformats.org/officeDocument/2006/relationships/hyperlink" Target="https://www.appliedclinicaltrialsonline.com" TargetMode="External"/><Relationship Id="rId8" Type="http://schemas.openxmlformats.org/officeDocument/2006/relationships/hyperlink" Target="https://www.drugpatentwatch.com/blog/the-ai-revolution-in-drug-repurposing-a-comprehensive-pipeline-analysis-from-target-identification-to-clinical-and-commercial-validation/" TargetMode="External"/><Relationship Id="rId9" Type="http://schemas.openxmlformats.org/officeDocument/2006/relationships/hyperlink" Target="https://www.iqvia.com/newsroom/2025/01/iqvia-and-nvidia-strategic-partnership" TargetMode="External"/><Relationship Id="rId10" Type="http://schemas.openxmlformats.org/officeDocument/2006/relationships/hyperlink" Target="https://investor.iqvia.com" TargetMode="External"/><Relationship Id="rId11" Type="http://schemas.openxmlformats.org/officeDocument/2006/relationships/hyperlink" Target="https://www.greyb.com/ai-drug-discovery" TargetMode="External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A8EA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1A3550">
              <a:alpha val="60000"/>
            </a:srgbClr>
          </a:solidFill>
          <a:ln w="19050">
            <a:solidFill>
              <a:srgbClr val="0A8E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645920"/>
            <a:ext cx="2926080" cy="2926080"/>
          </a:xfrm>
          <a:prstGeom prst="ellipse">
            <a:avLst/>
          </a:prstGeom>
          <a:solidFill>
            <a:srgbClr val="1A3550">
              <a:alpha val="50000"/>
            </a:srgbClr>
          </a:solidFill>
          <a:ln w="12700">
            <a:solidFill>
              <a:srgbClr val="12B5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20040"/>
            <a:ext cx="2560320" cy="347472"/>
          </a:xfrm>
          <a:prstGeom prst="roundRect">
            <a:avLst>
              <a:gd name="adj" fmla="val 10526"/>
            </a:avLst>
          </a:prstGeom>
          <a:solidFill>
            <a:srgbClr val="0A8EA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0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IQVIA HACKATHON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41248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Repurposing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2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Agentic AI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 indication discovery across the drug pipeline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autonomous, reasoning-first AI agents powered by IQVIA data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2468880" cy="1005840"/>
          </a:xfrm>
          <a:prstGeom prst="rect">
            <a:avLst/>
          </a:prstGeom>
          <a:solidFill>
            <a:srgbClr val="1A35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657600"/>
            <a:ext cx="73152" cy="1005840"/>
          </a:xfrm>
          <a:prstGeom prst="rect">
            <a:avLst/>
          </a:prstGeom>
          <a:solidFill>
            <a:srgbClr val="F4AC45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37033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$36.9B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1792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Repurposing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(2025)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91840" y="3657600"/>
            <a:ext cx="2468880" cy="1005840"/>
          </a:xfrm>
          <a:prstGeom prst="rect">
            <a:avLst/>
          </a:prstGeom>
          <a:solidFill>
            <a:srgbClr val="1A35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3657600"/>
            <a:ext cx="73152" cy="1005840"/>
          </a:xfrm>
          <a:prstGeom prst="rect">
            <a:avLst/>
          </a:prstGeom>
          <a:solidFill>
            <a:srgbClr val="F4AC45"/>
          </a:solidFill>
          <a:ln/>
        </p:spPr>
      </p:sp>
      <p:sp>
        <p:nvSpPr>
          <p:cNvPr id="16" name="Text 14"/>
          <p:cNvSpPr/>
          <p:nvPr/>
        </p:nvSpPr>
        <p:spPr>
          <a:xfrm>
            <a:off x="3456432" y="37033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56432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— AI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Repurposing Mkt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3657600"/>
            <a:ext cx="2468880" cy="1005840"/>
          </a:xfrm>
          <a:prstGeom prst="rect">
            <a:avLst/>
          </a:prstGeom>
          <a:solidFill>
            <a:srgbClr val="1A35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3657600"/>
            <a:ext cx="73152" cy="1005840"/>
          </a:xfrm>
          <a:prstGeom prst="rect">
            <a:avLst/>
          </a:prstGeom>
          <a:solidFill>
            <a:srgbClr val="F4AC45"/>
          </a:solidFill>
          <a:ln/>
        </p:spPr>
      </p:sp>
      <p:sp>
        <p:nvSpPr>
          <p:cNvPr id="20" name="Text 18"/>
          <p:cNvSpPr/>
          <p:nvPr/>
        </p:nvSpPr>
        <p:spPr>
          <a:xfrm>
            <a:off x="6291072" y="37033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~$2.6B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91072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 of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Drug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7A91"/>
                </a:solidFill>
              </a:rPr>
              <a:t>Sources: Precedence Research (2025) · Grand View Research (2025) · Tufts CSDD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8EAD"/>
                </a:solidFill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Presenting Today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502920" cy="5669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5448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8EAD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15910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87552" y="18470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broken drug R&amp;D pipeline — quantified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12848"/>
            <a:ext cx="8412480" cy="566928"/>
          </a:xfrm>
          <a:prstGeom prst="rect">
            <a:avLst/>
          </a:prstGeom>
          <a:solidFill>
            <a:srgbClr val="EDF5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12848"/>
            <a:ext cx="502920" cy="5669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1284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8EAD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22494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&amp; Agentic Approach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87552" y="2505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autonomous agents solve it end-to-end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871216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71216"/>
            <a:ext cx="502920" cy="5669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87121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8EAD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7552" y="29077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87552" y="316382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cost, time, and quality impact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529584"/>
            <a:ext cx="8412480" cy="566928"/>
          </a:xfrm>
          <a:prstGeom prst="rect">
            <a:avLst/>
          </a:prstGeom>
          <a:solidFill>
            <a:srgbClr val="EDF5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529584"/>
            <a:ext cx="502920" cy="5669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52958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8EAD"/>
                </a:solidFill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7552" y="35661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Benefits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87552" y="382219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Differentiation, compliance &amp; outcomes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187952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187952"/>
            <a:ext cx="502920" cy="5669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18795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8EAD"/>
                </a:solidFill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7552" y="42245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Agentification Scope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87552" y="44805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an existing pipeline stage or creating a new one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EAD"/>
                </a:solidFill>
              </a:rPr>
              <a:t>01 — BUSINESS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R&amp;D Is Broken — And The Stakes Are Enormous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diseases have no approved treatment. Drug repurposing is the fastest path to addressing this gap — but today's process is manual, slow, and misses trillions of potential connections.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1965960" cy="15087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48256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12–15 yrs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47472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drug dev. timeline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68880" y="1920240"/>
            <a:ext cx="1965960" cy="1508760"/>
          </a:xfrm>
          <a:prstGeom prst="rect">
            <a:avLst/>
          </a:prstGeom>
          <a:solidFill>
            <a:srgbClr val="E043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2048256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42032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2542032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failure rate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663440" y="1920240"/>
            <a:ext cx="1965960" cy="15087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2048256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36592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$2.6B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4736592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cost per new drug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858000" y="1920240"/>
            <a:ext cx="1965960" cy="1508760"/>
          </a:xfrm>
          <a:prstGeom prst="rect">
            <a:avLst/>
          </a:prstGeom>
          <a:solidFill>
            <a:srgbClr val="1A35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2048256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31152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6931152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repurposing analysis per drug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274320" y="3657600"/>
            <a:ext cx="8595360" cy="10058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274320" y="3657600"/>
            <a:ext cx="91440" cy="1005840"/>
          </a:xfrm>
          <a:prstGeom prst="rect">
            <a:avLst/>
          </a:prstGeom>
          <a:solidFill>
            <a:srgbClr val="F4AC45"/>
          </a:solidFill>
          <a:ln/>
        </p:spPr>
      </p:sp>
      <p:sp>
        <p:nvSpPr>
          <p:cNvPr id="24" name="Text 18"/>
          <p:cNvSpPr/>
          <p:nvPr/>
        </p:nvSpPr>
        <p:spPr>
          <a:xfrm>
            <a:off x="502920" y="37033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Statement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02920" y="395935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~3,000 approved drugs × 12,000+ known diseases = millions of unexplored combinations. Yet 95% of rare diseases have no treatment. Manual repurposing takes 3–6 months per drug, covers &lt;1% of combinations, and completely ignores real-world patient data where the most valuable signals live.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36576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AABBD"/>
                </a:solidFill>
              </a:rPr>
              <a:t>Sources: Tufts CSDD · Deloitte Global Biopharma R&amp;D Report · Applied Clinical Trials (2026) · MDPI Medicines (2025)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EAD"/>
                </a:solidFill>
              </a:rPr>
              <a:t>02 — AI-FIRST &amp; AGENTIC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Architecture: From Signal to Strategic Brief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91"/>
                </a:solidFill>
              </a:rPr>
              <a:t>An orchestrator LLM directs specialised sub-agents that reason, plan, retrieve, compute, and synthesise — autonomously across every stage of the repurposing pipeline.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402336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783080"/>
            <a:ext cx="457200" cy="8412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78308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8379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Agent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2219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DrugBank · ChEMBL · UniProt · PubChem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0" y="2642616"/>
            <a:ext cx="0" cy="109728"/>
          </a:xfrm>
          <a:prstGeom prst="line">
            <a:avLst/>
          </a:prstGeom>
          <a:noFill/>
          <a:ln w="19050">
            <a:solidFill>
              <a:srgbClr val="0A8EA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770632"/>
            <a:ext cx="402336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770632"/>
            <a:ext cx="457200" cy="841248"/>
          </a:xfrm>
          <a:prstGeom prst="rect">
            <a:avLst/>
          </a:prstGeom>
          <a:solidFill>
            <a:srgbClr val="1A3550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770632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8254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Agent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320954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35M+ PubMed papers via NLP + RAG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86000" y="3630168"/>
            <a:ext cx="0" cy="109728"/>
          </a:xfrm>
          <a:prstGeom prst="line">
            <a:avLst/>
          </a:prstGeom>
          <a:noFill/>
          <a:ln w="19050">
            <a:solidFill>
              <a:srgbClr val="0A8EA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758184"/>
            <a:ext cx="402336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758184"/>
            <a:ext cx="457200" cy="841248"/>
          </a:xfrm>
          <a:prstGeom prst="rect">
            <a:avLst/>
          </a:prstGeom>
          <a:solidFill>
            <a:srgbClr val="0A8EAD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758184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8130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Signal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41970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IQVIA E360 · EMR · Claims · Xponent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1783080"/>
            <a:ext cx="402336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783080"/>
            <a:ext cx="457200" cy="841248"/>
          </a:xfrm>
          <a:prstGeom prst="rect">
            <a:avLst/>
          </a:prstGeom>
          <a:solidFill>
            <a:srgbClr val="0A8EAD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178308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12080" y="18379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12080" y="22219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IQVIA MIDAS · Market Prognosis · 95 countries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675120" y="2642616"/>
            <a:ext cx="0" cy="109728"/>
          </a:xfrm>
          <a:prstGeom prst="line">
            <a:avLst/>
          </a:prstGeom>
          <a:noFill/>
          <a:ln w="19050">
            <a:solidFill>
              <a:srgbClr val="0A8EA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2770632"/>
            <a:ext cx="402336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770632"/>
            <a:ext cx="457200" cy="841248"/>
          </a:xfrm>
          <a:prstGeom prst="rect">
            <a:avLst/>
          </a:prstGeom>
          <a:solidFill>
            <a:srgbClr val="1A3550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2770632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12080" y="28254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Agent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12080" y="320954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× RWE × Market ÷ Risk composite score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675120" y="3630168"/>
            <a:ext cx="0" cy="109728"/>
          </a:xfrm>
          <a:prstGeom prst="line">
            <a:avLst/>
          </a:prstGeom>
          <a:noFill/>
          <a:ln w="19050">
            <a:solidFill>
              <a:srgbClr val="0A8EA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758184"/>
            <a:ext cx="402336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758184"/>
            <a:ext cx="457200" cy="8412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3758184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12080" y="38130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Generation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212080" y="41970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Boardroom-ready report: evidence, market, pathway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069080" y="1783080"/>
            <a:ext cx="1005840" cy="2962656"/>
          </a:xfrm>
          <a:prstGeom prst="rect">
            <a:avLst/>
          </a:prstGeom>
          <a:solidFill>
            <a:srgbClr val="C8F0F8">
              <a:alpha val="70000"/>
            </a:srgbClr>
          </a:solidFill>
          <a:ln w="12700">
            <a:solidFill>
              <a:srgbClr val="0A8EA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69080" y="26060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8EAD"/>
                </a:solidFill>
              </a:rPr>
              <a:t>ReAct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8EAD"/>
                </a:solidFill>
              </a:rPr>
              <a:t>Loop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4736592"/>
            <a:ext cx="8595360" cy="2926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736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8EAD"/>
                </a:solidFill>
              </a:rPr>
              <a:t>LLM Orchestrator  ·  Plans → Acts → Observes → Adapts  ·  NVIDIA NeMo + LangChain + IQVIA Connected Intelligence™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EAD"/>
                </a:solidFill>
              </a:rPr>
              <a:t>03 — QUANTIFIED BUSINESS VALUE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Across Revenue, Cost, Efficiency &amp; Quality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2029968" cy="13716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9961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48132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8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84048" y="1773936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$500M–$5B+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4048" y="235000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revenue per repurposed indication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450592" y="1389888"/>
            <a:ext cx="2029968" cy="1371600"/>
          </a:xfrm>
          <a:prstGeom prst="rect">
            <a:avLst/>
          </a:prstGeom>
          <a:solidFill>
            <a:srgbClr val="1A35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49961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26080" y="148132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8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2560320" y="1773936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25–50%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2560320" y="235000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in pre-clinical R&amp;D costs (Morgan Stanley)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626864" y="1389888"/>
            <a:ext cx="2029968" cy="1371600"/>
          </a:xfrm>
          <a:prstGeom prst="rect">
            <a:avLst/>
          </a:prstGeom>
          <a:solidFill>
            <a:srgbClr val="0A8EA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49961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02352" y="148132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SAVINGS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4736592" y="1773936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 → &lt;1 hr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736592" y="235000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Per-drug analysis time via agentic pipeline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6803136" y="1389888"/>
            <a:ext cx="2029968" cy="1371600"/>
          </a:xfrm>
          <a:prstGeom prst="rect">
            <a:avLst/>
          </a:prstGeom>
          <a:solidFill>
            <a:srgbClr val="0A8EA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149961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78624" y="148132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6912864" y="1773936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100× scale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912864" y="235000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scans full portfolio vs. 1 drug per analyst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274320" y="2907792"/>
            <a:ext cx="8595360" cy="1371600"/>
          </a:xfrm>
          <a:prstGeom prst="rect">
            <a:avLst/>
          </a:prstGeom>
          <a:solidFill>
            <a:srgbClr val="1A35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01752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9808" y="2999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8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384048" y="3291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AI-discovered molecules: 80–90% Phase I success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384048" y="38679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industry avg 30–40% (Science Direct, 2024)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274320" y="4407408"/>
            <a:ext cx="8595360" cy="5943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74320" y="4407408"/>
            <a:ext cx="91440" cy="594360"/>
          </a:xfrm>
          <a:prstGeom prst="rect">
            <a:avLst/>
          </a:prstGeom>
          <a:solidFill>
            <a:srgbClr val="F4AC45"/>
          </a:solidFill>
          <a:ln/>
        </p:spPr>
      </p:sp>
      <p:sp>
        <p:nvSpPr>
          <p:cNvPr id="32" name="Text 25"/>
          <p:cNvSpPr/>
          <p:nvPr/>
        </p:nvSpPr>
        <p:spPr>
          <a:xfrm>
            <a:off x="502920" y="44074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IQVIA Data Moat  |  1.2B+ non-identified patient records · MIDAS coverage in 95 countries · Real-world evidence from Xponent + E360 enables signal detection unavailable to any competitor without this data asset.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365760" y="498348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7A91"/>
                </a:solidFill>
              </a:rPr>
              <a:t>Sources: Morgan Stanley AI Drug Discovery Analysis · Science Direct (2024) · DrugPatentWatch AI Revolution Report (2025) · Grand View Research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EAD"/>
                </a:solidFill>
              </a:rPr>
              <a:t>04 — STRATEGIC BENEFITS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Differentiation, Compliance &amp; Expected Business Outcomes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2788920" cy="43891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3560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13898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1874520"/>
            <a:ext cx="278892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84048" y="2029968"/>
            <a:ext cx="128016" cy="128016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" y="199339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access to 1.2B patient RWE — no competitor can replicate this signal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84048" y="2560320"/>
            <a:ext cx="128016" cy="128016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2" name="Text 9"/>
          <p:cNvSpPr/>
          <p:nvPr/>
        </p:nvSpPr>
        <p:spPr>
          <a:xfrm>
            <a:off x="585216" y="2523744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IQVIA–NVIDIA NeMo + AWS: enterprise-grade agentic stack already in place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84048" y="3090672"/>
            <a:ext cx="128016" cy="128016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4" name="Text 11"/>
          <p:cNvSpPr/>
          <p:nvPr/>
        </p:nvSpPr>
        <p:spPr>
          <a:xfrm>
            <a:off x="585216" y="305409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MIDAS market data integrated into every repurposing score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84048" y="3621024"/>
            <a:ext cx="128016" cy="128016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" y="35844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any pipeline stage — from target ID to post-market surveillance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84048" y="4151376"/>
            <a:ext cx="128016" cy="128016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8" name="Text 15"/>
          <p:cNvSpPr/>
          <p:nvPr/>
        </p:nvSpPr>
        <p:spPr>
          <a:xfrm>
            <a:off x="585216" y="411480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95% of rare diseases currently with zero approved treatment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218688" y="1389888"/>
            <a:ext cx="2788920" cy="438912"/>
          </a:xfrm>
          <a:prstGeom prst="rect">
            <a:avLst/>
          </a:prstGeom>
          <a:solidFill>
            <a:srgbClr val="1A35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435608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57600" y="13898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218688" y="1874520"/>
            <a:ext cx="278892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328416" y="2029968"/>
            <a:ext cx="128016" cy="128016"/>
          </a:xfrm>
          <a:prstGeom prst="ellipse">
            <a:avLst/>
          </a:prstGeom>
          <a:solidFill>
            <a:srgbClr val="1A3550"/>
          </a:solidFill>
          <a:ln/>
        </p:spPr>
      </p:sp>
      <p:sp>
        <p:nvSpPr>
          <p:cNvPr id="24" name="Text 20"/>
          <p:cNvSpPr/>
          <p:nvPr/>
        </p:nvSpPr>
        <p:spPr>
          <a:xfrm>
            <a:off x="3529584" y="199339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IQVIA data de-identified to HIPAA / GDPR standards by default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3328416" y="2560320"/>
            <a:ext cx="128016" cy="128016"/>
          </a:xfrm>
          <a:prstGeom prst="ellipse">
            <a:avLst/>
          </a:prstGeom>
          <a:solidFill>
            <a:srgbClr val="1A3550"/>
          </a:solidFill>
          <a:ln/>
        </p:spPr>
      </p:sp>
      <p:sp>
        <p:nvSpPr>
          <p:cNvPr id="26" name="Text 22"/>
          <p:cNvSpPr/>
          <p:nvPr/>
        </p:nvSpPr>
        <p:spPr>
          <a:xfrm>
            <a:off x="3529584" y="2523744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AI/ML draft guidance framework aligned (risk-based, auditable outputs)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3328416" y="3090672"/>
            <a:ext cx="128016" cy="128016"/>
          </a:xfrm>
          <a:prstGeom prst="ellipse">
            <a:avLst/>
          </a:prstGeom>
          <a:solidFill>
            <a:srgbClr val="1A3550"/>
          </a:solidFill>
          <a:ln/>
        </p:spPr>
      </p:sp>
      <p:sp>
        <p:nvSpPr>
          <p:cNvPr id="28" name="Text 24"/>
          <p:cNvSpPr/>
          <p:nvPr/>
        </p:nvSpPr>
        <p:spPr>
          <a:xfrm>
            <a:off x="3529584" y="305409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literature citations grounded in real PubMed sources via RAG — no hallucination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328416" y="3621024"/>
            <a:ext cx="128016" cy="128016"/>
          </a:xfrm>
          <a:prstGeom prst="ellipse">
            <a:avLst/>
          </a:prstGeom>
          <a:solidFill>
            <a:srgbClr val="1A3550"/>
          </a:solidFill>
          <a:ln/>
        </p:spPr>
      </p:sp>
      <p:sp>
        <p:nvSpPr>
          <p:cNvPr id="30" name="Text 26"/>
          <p:cNvSpPr/>
          <p:nvPr/>
        </p:nvSpPr>
        <p:spPr>
          <a:xfrm>
            <a:off x="3529584" y="35844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scoring model — fully explainable to pharma clients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3328416" y="4151376"/>
            <a:ext cx="128016" cy="128016"/>
          </a:xfrm>
          <a:prstGeom prst="ellipse">
            <a:avLst/>
          </a:prstGeom>
          <a:solidFill>
            <a:srgbClr val="1A3550"/>
          </a:solidFill>
          <a:ln/>
        </p:spPr>
      </p:sp>
      <p:sp>
        <p:nvSpPr>
          <p:cNvPr id="32" name="Text 28"/>
          <p:cNvSpPr/>
          <p:nvPr/>
        </p:nvSpPr>
        <p:spPr>
          <a:xfrm>
            <a:off x="3529584" y="411480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 Drug Act alignment: flags 7-10yr exclusivity &amp; tax credit eligibility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6163056" y="1389888"/>
            <a:ext cx="2788920" cy="438912"/>
          </a:xfrm>
          <a:prstGeom prst="rect">
            <a:avLst/>
          </a:prstGeom>
          <a:solidFill>
            <a:srgbClr val="0A8EA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435608"/>
            <a:ext cx="274320" cy="27432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601968" y="13898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6163056" y="1874520"/>
            <a:ext cx="278892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6272784" y="2029968"/>
            <a:ext cx="128016" cy="128016"/>
          </a:xfrm>
          <a:prstGeom prst="ellipse">
            <a:avLst/>
          </a:prstGeom>
          <a:solidFill>
            <a:srgbClr val="0A8EAD"/>
          </a:solidFill>
          <a:ln/>
        </p:spPr>
      </p:sp>
      <p:sp>
        <p:nvSpPr>
          <p:cNvPr id="38" name="Text 33"/>
          <p:cNvSpPr/>
          <p:nvPr/>
        </p:nvSpPr>
        <p:spPr>
          <a:xfrm>
            <a:off x="6473952" y="199339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$50B+ additional market opportunity from even modest AI-driven R&amp;D improvement (Morgan Stanley)</a:t>
            </a:r>
            <a:endParaRPr lang="en-US" sz="850" dirty="0"/>
          </a:p>
        </p:txBody>
      </p:sp>
      <p:sp>
        <p:nvSpPr>
          <p:cNvPr id="39" name="Shape 34"/>
          <p:cNvSpPr/>
          <p:nvPr/>
        </p:nvSpPr>
        <p:spPr>
          <a:xfrm>
            <a:off x="6272784" y="2560320"/>
            <a:ext cx="128016" cy="128016"/>
          </a:xfrm>
          <a:prstGeom prst="ellipse">
            <a:avLst/>
          </a:prstGeom>
          <a:solidFill>
            <a:srgbClr val="0A8EAD"/>
          </a:solidFill>
          <a:ln/>
        </p:spPr>
      </p:sp>
      <p:sp>
        <p:nvSpPr>
          <p:cNvPr id="40" name="Text 35"/>
          <p:cNvSpPr/>
          <p:nvPr/>
        </p:nvSpPr>
        <p:spPr>
          <a:xfrm>
            <a:off x="6473952" y="2523744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 Drug fast-track: FDA review time cut by 2–3 years per indication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6272784" y="3090672"/>
            <a:ext cx="128016" cy="128016"/>
          </a:xfrm>
          <a:prstGeom prst="ellipse">
            <a:avLst/>
          </a:prstGeom>
          <a:solidFill>
            <a:srgbClr val="0A8EAD"/>
          </a:solidFill>
          <a:ln/>
        </p:spPr>
      </p:sp>
      <p:sp>
        <p:nvSpPr>
          <p:cNvPr id="42" name="Text 37"/>
          <p:cNvSpPr/>
          <p:nvPr/>
        </p:nvSpPr>
        <p:spPr>
          <a:xfrm>
            <a:off x="6473952" y="305409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pipeline revival: monetises off-patent &amp; failed compounds</a:t>
            </a:r>
            <a:endParaRPr lang="en-US" sz="850" dirty="0"/>
          </a:p>
        </p:txBody>
      </p:sp>
      <p:sp>
        <p:nvSpPr>
          <p:cNvPr id="43" name="Shape 38"/>
          <p:cNvSpPr/>
          <p:nvPr/>
        </p:nvSpPr>
        <p:spPr>
          <a:xfrm>
            <a:off x="6272784" y="3621024"/>
            <a:ext cx="128016" cy="128016"/>
          </a:xfrm>
          <a:prstGeom prst="ellipse">
            <a:avLst/>
          </a:prstGeom>
          <a:solidFill>
            <a:srgbClr val="0A8EAD"/>
          </a:solidFill>
          <a:ln/>
        </p:spPr>
      </p:sp>
      <p:sp>
        <p:nvSpPr>
          <p:cNvPr id="44" name="Text 39"/>
          <p:cNvSpPr/>
          <p:nvPr/>
        </p:nvSpPr>
        <p:spPr>
          <a:xfrm>
            <a:off x="6473952" y="35844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IQVIA TAS + R&amp;DS revenue line: software licensing + RWE data subscriptions</a:t>
            </a:r>
            <a:endParaRPr lang="en-US" sz="850" dirty="0"/>
          </a:p>
        </p:txBody>
      </p:sp>
      <p:sp>
        <p:nvSpPr>
          <p:cNvPr id="45" name="Shape 40"/>
          <p:cNvSpPr/>
          <p:nvPr/>
        </p:nvSpPr>
        <p:spPr>
          <a:xfrm>
            <a:off x="6272784" y="4151376"/>
            <a:ext cx="128016" cy="128016"/>
          </a:xfrm>
          <a:prstGeom prst="ellipse">
            <a:avLst/>
          </a:prstGeom>
          <a:solidFill>
            <a:srgbClr val="0A8EAD"/>
          </a:solidFill>
          <a:ln/>
        </p:spPr>
      </p:sp>
      <p:sp>
        <p:nvSpPr>
          <p:cNvPr id="46" name="Text 41"/>
          <p:cNvSpPr/>
          <p:nvPr/>
        </p:nvSpPr>
        <p:spPr>
          <a:xfrm>
            <a:off x="6473952" y="411480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new drugs estimated to use AI by 2025 — IQVIA positioned at centre</a:t>
            </a:r>
            <a:endParaRPr lang="en-US" sz="850" dirty="0"/>
          </a:p>
        </p:txBody>
      </p:sp>
      <p:sp>
        <p:nvSpPr>
          <p:cNvPr id="47" name="Text 42"/>
          <p:cNvSpPr/>
          <p:nvPr/>
        </p:nvSpPr>
        <p:spPr>
          <a:xfrm>
            <a:off x="365760" y="495604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7A91"/>
                </a:solidFill>
              </a:rPr>
              <a:t>Sources: Morgan Stanley (2024) · DrugPatentWatch Pipeline Report (2025) · FDA AI/ML Action Plan · IQVIA–NVIDIA Partnership Press Release (Jan 2025)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EAD"/>
                </a:solidFill>
              </a:rPr>
              <a:t>05 — AGENTIFICATION 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at Any Stage of the Drug Repurposing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1"/>
                </a:solidFill>
              </a:rPr>
              <a:t>The agentic framework introduces AI-first reasoning at every stage — whether accelerating an existing manual process or creating an entirely new automated capability.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810512"/>
            <a:ext cx="8595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810512"/>
            <a:ext cx="1051560" cy="5303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810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8EAD"/>
                </a:solidFill>
              </a:rPr>
              <a:t>Stage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20574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ABBD"/>
                </a:solidFill>
              </a:rPr>
              <a:t>Target ID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AABBD"/>
                </a:solidFill>
              </a:rPr>
              <a:t>Validation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444752" y="185623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7A91"/>
                </a:solidFill>
              </a:rPr>
              <a:t>Before: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65960" y="18562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1"/>
                </a:solidFill>
              </a:rPr>
              <a:t>Manual genomics review, GWAS analysis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44752" y="210312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Agent: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965960" y="21031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3C"/>
                </a:solidFill>
              </a:rPr>
              <a:t>Agent mines multi-omics DBs + literature for novel target-disease links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092440" y="1920240"/>
            <a:ext cx="685800" cy="274320"/>
          </a:xfrm>
          <a:prstGeom prst="rect">
            <a:avLst>
              <a:gd name="adj" fmla="val 10000"/>
            </a:avLst>
          </a:prstGeom>
          <a:solidFill>
            <a:srgbClr val="F4AC45"/>
          </a:solidFill>
          <a:ln/>
        </p:spPr>
      </p:sp>
      <p:sp>
        <p:nvSpPr>
          <p:cNvPr id="15" name="Text 13"/>
          <p:cNvSpPr/>
          <p:nvPr/>
        </p:nvSpPr>
        <p:spPr>
          <a:xfrm>
            <a:off x="8092440" y="1920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</a:rPr>
              <a:t>NEW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74320" y="2414016"/>
            <a:ext cx="8595360" cy="530352"/>
          </a:xfrm>
          <a:prstGeom prst="rect">
            <a:avLst/>
          </a:prstGeom>
          <a:solidFill>
            <a:srgbClr val="EDF5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14016"/>
            <a:ext cx="1051560" cy="5303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41401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8EAD"/>
                </a:solidFill>
              </a:rPr>
              <a:t>Stage 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4320" y="26609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ABBD"/>
                </a:solidFill>
              </a:rPr>
              <a:t>Candidate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AABBD"/>
                </a:solidFill>
              </a:rPr>
              <a:t>Selection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444752" y="24597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7A91"/>
                </a:solidFill>
              </a:rPr>
              <a:t>Before: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965960" y="245973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1"/>
                </a:solidFill>
              </a:rPr>
              <a:t>Database queries, analyst scoring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444752" y="27066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Agent: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65960" y="270662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3C"/>
                </a:solidFill>
              </a:rPr>
              <a:t>Agent queries ChEMBL + DrugBank + PubMed in parallel, auto-scores candidates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092440" y="2523744"/>
            <a:ext cx="685800" cy="274320"/>
          </a:xfrm>
          <a:prstGeom prst="rect">
            <a:avLst>
              <a:gd name="adj" fmla="val 10000"/>
            </a:avLst>
          </a:prstGeom>
          <a:solidFill>
            <a:srgbClr val="0A8EAD"/>
          </a:solidFill>
          <a:ln/>
        </p:spPr>
      </p:sp>
      <p:sp>
        <p:nvSpPr>
          <p:cNvPr id="25" name="Text 23"/>
          <p:cNvSpPr/>
          <p:nvPr/>
        </p:nvSpPr>
        <p:spPr>
          <a:xfrm>
            <a:off x="8092440" y="25237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ACCELERATE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74320" y="3017520"/>
            <a:ext cx="8595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017520"/>
            <a:ext cx="1051560" cy="5303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0175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8EAD"/>
                </a:solidFill>
              </a:rPr>
              <a:t>Stage 3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4320" y="32644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ABBD"/>
                </a:solidFill>
              </a:rPr>
              <a:t>RWE Signal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AABBD"/>
                </a:solidFill>
              </a:rPr>
              <a:t>Detection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444752" y="306324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7A91"/>
                </a:solidFill>
              </a:rPr>
              <a:t>Before: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965960" y="30632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1"/>
                </a:solidFill>
              </a:rPr>
              <a:t>Rarely done — requires specialist data teams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444752" y="331012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Agent: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965960" y="33101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3C"/>
                </a:solidFill>
              </a:rPr>
              <a:t>Agent continuously mines IQVIA E360 + claims for real-world repurposing signals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092440" y="3127248"/>
            <a:ext cx="685800" cy="274320"/>
          </a:xfrm>
          <a:prstGeom prst="rect">
            <a:avLst>
              <a:gd name="adj" fmla="val 10000"/>
            </a:avLst>
          </a:prstGeom>
          <a:solidFill>
            <a:srgbClr val="F4AC45"/>
          </a:solidFill>
          <a:ln/>
        </p:spPr>
      </p:sp>
      <p:sp>
        <p:nvSpPr>
          <p:cNvPr id="35" name="Text 33"/>
          <p:cNvSpPr/>
          <p:nvPr/>
        </p:nvSpPr>
        <p:spPr>
          <a:xfrm>
            <a:off x="8092440" y="31272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</a:rPr>
              <a:t>NEW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74320" y="3621024"/>
            <a:ext cx="8595360" cy="530352"/>
          </a:xfrm>
          <a:prstGeom prst="rect">
            <a:avLst/>
          </a:prstGeom>
          <a:solidFill>
            <a:srgbClr val="EDF5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621024"/>
            <a:ext cx="1051560" cy="5303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362102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8EAD"/>
                </a:solidFill>
              </a:rPr>
              <a:t>Stage 4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74320" y="38679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ABBD"/>
                </a:solidFill>
              </a:rPr>
              <a:t>Market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AABBD"/>
                </a:solidFill>
              </a:rPr>
              <a:t>Commercial Intel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444752" y="366674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7A91"/>
                </a:solidFill>
              </a:rPr>
              <a:t>Before: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965960" y="366674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1"/>
                </a:solidFill>
              </a:rPr>
              <a:t>Separate project; 2–4 weeks; MIDAS queries by analysts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444752" y="391363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Agent: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965960" y="39136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3C"/>
                </a:solidFill>
              </a:rPr>
              <a:t>Agent integrates MIDAS market sizing into scientific scoring — one unified output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092440" y="3730752"/>
            <a:ext cx="685800" cy="274320"/>
          </a:xfrm>
          <a:prstGeom prst="rect">
            <a:avLst>
              <a:gd name="adj" fmla="val 10000"/>
            </a:avLst>
          </a:prstGeom>
          <a:solidFill>
            <a:srgbClr val="0A8EAD"/>
          </a:solidFill>
          <a:ln/>
        </p:spPr>
      </p:sp>
      <p:sp>
        <p:nvSpPr>
          <p:cNvPr id="45" name="Text 43"/>
          <p:cNvSpPr/>
          <p:nvPr/>
        </p:nvSpPr>
        <p:spPr>
          <a:xfrm>
            <a:off x="8092440" y="37307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ACCELERATE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74320" y="4224528"/>
            <a:ext cx="8595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4320" y="4224528"/>
            <a:ext cx="1051560" cy="5303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42245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8EAD"/>
                </a:solidFill>
              </a:rPr>
              <a:t>Stage 5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74320" y="447141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ABBD"/>
                </a:solidFill>
              </a:rPr>
              <a:t>Clinical Trial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AABBD"/>
                </a:solidFill>
              </a:rPr>
              <a:t>Design Support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444752" y="427024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7A91"/>
                </a:solidFill>
              </a:rPr>
              <a:t>Before: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965960" y="42702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1"/>
                </a:solidFill>
              </a:rPr>
              <a:t>Manual protocol design; site selection takes months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444752" y="45171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Agent: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965960" y="451713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3C"/>
                </a:solidFill>
              </a:rPr>
              <a:t>Agent queries ClinicalTrials.gov + IQVIA OCT for trial feasibility &amp; patient pool sizing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092440" y="4334256"/>
            <a:ext cx="685800" cy="274320"/>
          </a:xfrm>
          <a:prstGeom prst="rect">
            <a:avLst>
              <a:gd name="adj" fmla="val 10000"/>
            </a:avLst>
          </a:prstGeom>
          <a:solidFill>
            <a:srgbClr val="0A8EAD"/>
          </a:solidFill>
          <a:ln/>
        </p:spPr>
      </p:sp>
      <p:sp>
        <p:nvSpPr>
          <p:cNvPr id="55" name="Text 53"/>
          <p:cNvSpPr/>
          <p:nvPr/>
        </p:nvSpPr>
        <p:spPr>
          <a:xfrm>
            <a:off x="8092440" y="43342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ACCELERATE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65760" y="495604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7A91"/>
                </a:solidFill>
              </a:rPr>
              <a:t>Sources: MDPI Medicines (Nov 2025) · Wan et al. Advanced Science (Mar 2025) · ArXiv — AI + Real World Data in Drug Development · Applied Clinical Trials (Feb 2026)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A8EAD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1A3550">
              <a:alpha val="50000"/>
            </a:srgbClr>
          </a:solidFill>
          <a:ln w="12700">
            <a:solidFill>
              <a:srgbClr val="0A8E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IQVIA. Why Now. Why Agents.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325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Data Moat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1600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1.2B patient records + MIDAS global market data — signals no one else can see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057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Infrastructure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14400" y="2331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NeMo + AWS + LangChain already live at IQVIA — agents deploy on day one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346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2788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Reasoning Loop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914400" y="3063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architecture: Think → Act → Observe → Adapt across all pipeline stages simultaneously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56616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4400" y="3520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$36.9B Market Growing at 21% CAGR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914400" y="3794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drug repurposing is the fastest-growing segment in life sciences technology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297680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14400" y="4251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by Design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914400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HIPAA/GDPR-safe data, FDA AI/ML guidance aligned, full audit trail on every insight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457200" y="4736592"/>
            <a:ext cx="7498080" cy="256032"/>
          </a:xfrm>
          <a:prstGeom prst="rect">
            <a:avLst/>
          </a:prstGeom>
          <a:solidFill>
            <a:srgbClr val="0A8EAD">
              <a:alpha val="20000"/>
            </a:srgbClr>
          </a:solidFill>
          <a:ln/>
        </p:spPr>
      </p:sp>
      <p:sp>
        <p:nvSpPr>
          <p:cNvPr id="21" name="Text 14"/>
          <p:cNvSpPr/>
          <p:nvPr/>
        </p:nvSpPr>
        <p:spPr>
          <a:xfrm>
            <a:off x="457200" y="47365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IQVIA Connected Intelligence™  ×  Agentic AI  =  The world's most powerful drug repurposing engine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EAD"/>
                </a:solidFill>
              </a:rPr>
              <a:t>REFERENCES &amp; SOURCE LINKS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points in this deck are grounded in the following sources: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37160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88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A8EAD"/>
                </a:solidFill>
              </a:rPr>
              <a:t>MARKET DATA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47472" y="1536192"/>
            <a:ext cx="91440" cy="91440"/>
          </a:xfrm>
          <a:prstGeom prst="ellipse">
            <a:avLst/>
          </a:prstGeom>
          <a:solidFill>
            <a:srgbClr val="0A8EAD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813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View Research — AI Drug Repurposing Market</a:t>
            </a:r>
            <a:endParaRPr lang="en-US" sz="9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4709160" y="148132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u="sng" dirty="0">
                <a:solidFill>
                  <a:srgbClr val="0A8EA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https://www.grandviewresearch.com/industry-analysis/ai-drug-repurposing-market-report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7472" y="1783080"/>
            <a:ext cx="91440" cy="91440"/>
          </a:xfrm>
          <a:prstGeom prst="ellipse">
            <a:avLst/>
          </a:prstGeom>
          <a:solidFill>
            <a:srgbClr val="0A8EA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282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 Research — Drug Repurposing Market 2025–2034</a:t>
            </a:r>
            <a:endParaRPr lang="en-US" sz="900" dirty="0"/>
          </a:p>
        </p:txBody>
      </p:sp>
      <p:sp>
        <p:nvSpPr>
          <p:cNvPr id="12" name="Text 10">
            <a:hlinkClick r:id="rId2" tooltip=""/>
          </p:cNvPr>
          <p:cNvSpPr/>
          <p:nvPr/>
        </p:nvSpPr>
        <p:spPr>
          <a:xfrm>
            <a:off x="4709160" y="172821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u="sng" dirty="0">
                <a:solidFill>
                  <a:srgbClr val="0A8EA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https://www.precedenceresearch.com/drug-repurposing-market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" y="2029968"/>
            <a:ext cx="91440" cy="91440"/>
          </a:xfrm>
          <a:prstGeom prst="ellipse">
            <a:avLst/>
          </a:prstGeom>
          <a:solidFill>
            <a:srgbClr val="0A8EA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9751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Healthcare — AI Drug Repurposing CAGR 20.44%</a:t>
            </a:r>
            <a:endParaRPr lang="en-US" sz="900" dirty="0"/>
          </a:p>
        </p:txBody>
      </p:sp>
      <p:sp>
        <p:nvSpPr>
          <p:cNvPr id="15" name="Text 13">
            <a:hlinkClick r:id="rId3" tooltip=""/>
          </p:cNvPr>
          <p:cNvSpPr/>
          <p:nvPr/>
        </p:nvSpPr>
        <p:spPr>
          <a:xfrm>
            <a:off x="4709160" y="197510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u="sng" dirty="0">
                <a:solidFill>
                  <a:srgbClr val="0A8EA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https://www.towardshealthcare.com/insights/ai-in-drug-repurposing-market-sizing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295144"/>
            <a:ext cx="137160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2951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A8EAD"/>
                </a:solidFill>
              </a:rPr>
              <a:t>RESEARCH PAPERS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47472" y="2642616"/>
            <a:ext cx="91440" cy="91440"/>
          </a:xfrm>
          <a:prstGeom prst="ellipse">
            <a:avLst/>
          </a:prstGeom>
          <a:solidFill>
            <a:srgbClr val="0A8EAD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5877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Keramida et al. — AI-Driven Drug Repurposing (MDPI Medicines, Nov 2025)</a:t>
            </a:r>
            <a:endParaRPr lang="en-US" sz="900" dirty="0"/>
          </a:p>
        </p:txBody>
      </p:sp>
      <p:sp>
        <p:nvSpPr>
          <p:cNvPr id="20" name="Text 18">
            <a:hlinkClick r:id="rId4" tooltip=""/>
          </p:cNvPr>
          <p:cNvSpPr/>
          <p:nvPr/>
        </p:nvSpPr>
        <p:spPr>
          <a:xfrm>
            <a:off x="4709160" y="258775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u="sng" dirty="0">
                <a:solidFill>
                  <a:srgbClr val="0A8EA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https://doi.org/10.3390/medicines12040028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47472" y="2889504"/>
            <a:ext cx="91440" cy="91440"/>
          </a:xfrm>
          <a:prstGeom prst="ellipse">
            <a:avLst/>
          </a:prstGeom>
          <a:solidFill>
            <a:srgbClr val="0A8EAD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83464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et al. — Applications of AI in Drug Repurposing (Advanced Science, Mar 2025)</a:t>
            </a:r>
            <a:endParaRPr lang="en-US" sz="900" dirty="0"/>
          </a:p>
        </p:txBody>
      </p:sp>
      <p:sp>
        <p:nvSpPr>
          <p:cNvPr id="23" name="Text 21">
            <a:hlinkClick r:id="rId5" tooltip=""/>
          </p:cNvPr>
          <p:cNvSpPr/>
          <p:nvPr/>
        </p:nvSpPr>
        <p:spPr>
          <a:xfrm>
            <a:off x="4709160" y="28346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u="sng" dirty="0">
                <a:solidFill>
                  <a:srgbClr val="0A8EA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https://doi.org/10.1002/advs.202411325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7472" y="3136392"/>
            <a:ext cx="91440" cy="91440"/>
          </a:xfrm>
          <a:prstGeom prst="ellipse">
            <a:avLst/>
          </a:prstGeom>
          <a:solidFill>
            <a:srgbClr val="0A8EAD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081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Zong et al. — Computational Repurposing via EHR (npj Digital Medicine, 2022)</a:t>
            </a:r>
            <a:endParaRPr lang="en-US" sz="900" dirty="0"/>
          </a:p>
        </p:txBody>
      </p:sp>
      <p:sp>
        <p:nvSpPr>
          <p:cNvPr id="26" name="Text 24">
            <a:hlinkClick r:id="rId6" tooltip=""/>
          </p:cNvPr>
          <p:cNvSpPr/>
          <p:nvPr/>
        </p:nvSpPr>
        <p:spPr>
          <a:xfrm>
            <a:off x="4709160" y="308152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u="sng" dirty="0">
                <a:solidFill>
                  <a:srgbClr val="0A8EA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https://doi.org/10.1038/s41746-022-00617-6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47472" y="3383280"/>
            <a:ext cx="91440" cy="91440"/>
          </a:xfrm>
          <a:prstGeom prst="ellipse">
            <a:avLst/>
          </a:prstGeom>
          <a:solidFill>
            <a:srgbClr val="0A8EAD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3284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Clinical Trials — AI-Driven In-Silico Clinical Trials (Feb 2026)</a:t>
            </a:r>
            <a:endParaRPr lang="en-US" sz="900" dirty="0"/>
          </a:p>
        </p:txBody>
      </p:sp>
      <p:sp>
        <p:nvSpPr>
          <p:cNvPr id="29" name="Text 27">
            <a:hlinkClick r:id="rId7" tooltip=""/>
          </p:cNvPr>
          <p:cNvSpPr/>
          <p:nvPr/>
        </p:nvSpPr>
        <p:spPr>
          <a:xfrm>
            <a:off x="4709160" y="332841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u="sng" dirty="0">
                <a:solidFill>
                  <a:srgbClr val="0A8EA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https://www.appliedclinicaltrialsonline.com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3648456"/>
            <a:ext cx="137160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36484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A8EAD"/>
                </a:solidFill>
              </a:rPr>
              <a:t>INDUSTRY REPORTS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47472" y="3995928"/>
            <a:ext cx="91440" cy="91440"/>
          </a:xfrm>
          <a:prstGeom prst="ellipse">
            <a:avLst/>
          </a:prstGeom>
          <a:solidFill>
            <a:srgbClr val="0A8EAD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39410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DrugPatentWatch — AI Revolution in Drug Repurposing (2025)</a:t>
            </a:r>
            <a:endParaRPr lang="en-US" sz="900" dirty="0"/>
          </a:p>
        </p:txBody>
      </p:sp>
      <p:sp>
        <p:nvSpPr>
          <p:cNvPr id="34" name="Text 32">
            <a:hlinkClick r:id="rId8" tooltip=""/>
          </p:cNvPr>
          <p:cNvSpPr/>
          <p:nvPr/>
        </p:nvSpPr>
        <p:spPr>
          <a:xfrm>
            <a:off x="4709160" y="394106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u="sng" dirty="0">
                <a:solidFill>
                  <a:srgbClr val="0A8EA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https://www.drugpatentwatch.com/blog/the-ai-revolution-in-drug-repurposing-a-comprehensive-pipeline-analysis-from-target-identification-to-clinical-and-commercial-validation/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47472" y="4242816"/>
            <a:ext cx="91440" cy="91440"/>
          </a:xfrm>
          <a:prstGeom prst="ellipse">
            <a:avLst/>
          </a:prstGeom>
          <a:solidFill>
            <a:srgbClr val="0A8EAD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41879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IQVIA–NVIDIA Partnership (Jan 2025)</a:t>
            </a:r>
            <a:endParaRPr lang="en-US" sz="900" dirty="0"/>
          </a:p>
        </p:txBody>
      </p:sp>
      <p:sp>
        <p:nvSpPr>
          <p:cNvPr id="37" name="Text 35">
            <a:hlinkClick r:id="rId9" tooltip=""/>
          </p:cNvPr>
          <p:cNvSpPr/>
          <p:nvPr/>
        </p:nvSpPr>
        <p:spPr>
          <a:xfrm>
            <a:off x="4709160" y="418795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u="sng" dirty="0">
                <a:solidFill>
                  <a:srgbClr val="0A8EA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https://www.iqvia.com/newsroom/2025/01/iqvia-and-nvidia-strategic-partnership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47472" y="4489704"/>
            <a:ext cx="91440" cy="91440"/>
          </a:xfrm>
          <a:prstGeom prst="ellipse">
            <a:avLst/>
          </a:prstGeom>
          <a:solidFill>
            <a:srgbClr val="0A8EAD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443484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IQVIA Full Year 2025 Revenue (SEC / Investor Relations)</a:t>
            </a:r>
            <a:endParaRPr lang="en-US" sz="900" dirty="0"/>
          </a:p>
        </p:txBody>
      </p:sp>
      <p:sp>
        <p:nvSpPr>
          <p:cNvPr id="40" name="Text 38">
            <a:hlinkClick r:id="rId10" tooltip=""/>
          </p:cNvPr>
          <p:cNvSpPr/>
          <p:nvPr/>
        </p:nvSpPr>
        <p:spPr>
          <a:xfrm>
            <a:off x="4709160" y="44348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u="sng" dirty="0">
                <a:solidFill>
                  <a:srgbClr val="0A8EA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https://investor.iqvia.com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47472" y="4736592"/>
            <a:ext cx="91440" cy="91440"/>
          </a:xfrm>
          <a:prstGeom prst="ellipse">
            <a:avLst/>
          </a:prstGeom>
          <a:solidFill>
            <a:srgbClr val="0A8EAD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46817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GreyB AI Drug Discovery Report 2026</a:t>
            </a:r>
            <a:endParaRPr lang="en-US" sz="900" dirty="0"/>
          </a:p>
        </p:txBody>
      </p:sp>
      <p:sp>
        <p:nvSpPr>
          <p:cNvPr id="43" name="Text 41">
            <a:hlinkClick r:id="rId11" tooltip=""/>
          </p:cNvPr>
          <p:cNvSpPr/>
          <p:nvPr/>
        </p:nvSpPr>
        <p:spPr>
          <a:xfrm>
            <a:off x="4709160" y="468172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u="sng" dirty="0">
                <a:solidFill>
                  <a:srgbClr val="0A8EA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https://www.greyb.com/ai-drug-discovery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Drug Repurposing with Agentic AI — IQVIA Hackathon</dc:title>
  <dc:subject>PptxGenJS Presentation</dc:subject>
  <dc:creator>PptxGenJS</dc:creator>
  <cp:lastModifiedBy>PptxGenJS</cp:lastModifiedBy>
  <cp:revision>1</cp:revision>
  <dcterms:created xsi:type="dcterms:W3CDTF">2026-04-29T06:05:41Z</dcterms:created>
  <dcterms:modified xsi:type="dcterms:W3CDTF">2026-04-29T06:05:41Z</dcterms:modified>
</cp:coreProperties>
</file>